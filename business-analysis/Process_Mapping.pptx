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8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3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4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4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2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2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8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1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2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3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0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0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0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/>
      </p:grpSpPr>
      <p:sp>
        <p:nvSpPr>
          <p:cNvPr id="1048584" name="TextBox 1"/>
          <p:cNvSpPr txBox="1"/>
          <p:nvPr/>
        </p:nvSpPr>
        <p:spPr>
          <a:xfrm>
            <a:off x="411480" y="228600"/>
            <a:ext cx="2993649" cy="472440"/>
          </a:xfrm>
          <a:prstGeom prst="rect"/>
          <a:noFill/>
        </p:spPr>
        <p:txBody>
          <a:bodyPr wrap="none">
            <a:spAutoFit/>
          </a:bodyPr>
          <a:p>
            <a:pPr>
              <a:defRPr b="1" sz="2500">
                <a:solidFill>
                  <a:srgbClr val="1F4E79"/>
                </a:solidFill>
                <a:latin typeface="Aptos Display"/>
              </a:defRPr>
            </a:pPr>
            <a:r>
              <a:t>PROCESS MAPPING</a:t>
            </a:r>
          </a:p>
        </p:txBody>
      </p:sp>
      <p:sp>
        <p:nvSpPr>
          <p:cNvPr id="1048585" name="TextBox 2"/>
          <p:cNvSpPr txBox="1"/>
          <p:nvPr/>
        </p:nvSpPr>
        <p:spPr>
          <a:xfrm>
            <a:off x="438912" y="777240"/>
            <a:ext cx="3497084" cy="256541"/>
          </a:xfrm>
          <a:prstGeom prst="rect"/>
          <a:noFill/>
        </p:spPr>
        <p:txBody>
          <a:bodyPr wrap="none">
            <a:spAutoFit/>
          </a:bodyPr>
          <a:p>
            <a:pPr>
              <a:defRPr sz="1000">
                <a:solidFill>
                  <a:srgbClr val="646E78"/>
                </a:solidFill>
                <a:latin typeface="Aptos"/>
              </a:defRPr>
            </a:pPr>
            <a:r>
              <a:t>Procurement-to-Delivery | Proposed reference process</a:t>
            </a:r>
          </a:p>
        </p:txBody>
      </p:sp>
      <p:sp>
        <p:nvSpPr>
          <p:cNvPr id="1048586" name="Rounded Rectangle 3"/>
          <p:cNvSpPr/>
          <p:nvPr/>
        </p:nvSpPr>
        <p:spPr>
          <a:xfrm>
            <a:off x="731520" y="1645920"/>
            <a:ext cx="3291840" cy="1097280"/>
          </a:xfrm>
          <a:prstGeom prst="round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300">
                <a:solidFill>
                  <a:srgbClr val="2D3741"/>
                </a:solidFill>
                <a:latin typeface="Aptos"/>
              </a:defRPr>
            </a:pPr>
            <a:r>
              <a:t>PURPOSE</a:t>
            </a:r>
            <a:br/>
            <a:r>
              <a:t>Visualize sequence, role hand-offs, decisions, and improvement opportunities.</a:t>
            </a:r>
          </a:p>
        </p:txBody>
      </p:sp>
      <p:sp>
        <p:nvSpPr>
          <p:cNvPr id="1048587" name="Rounded Rectangle 4"/>
          <p:cNvSpPr/>
          <p:nvPr/>
        </p:nvSpPr>
        <p:spPr>
          <a:xfrm>
            <a:off x="4434840" y="1645920"/>
            <a:ext cx="3291840" cy="1097280"/>
          </a:xfrm>
          <a:prstGeom prst="roundRect"/>
          <a:solidFill>
            <a:srgbClr val="F2F6FA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300">
                <a:solidFill>
                  <a:srgbClr val="2D3741"/>
                </a:solidFill>
                <a:latin typeface="Aptos"/>
              </a:defRPr>
            </a:pPr>
            <a:r>
              <a:t>BOUNDARY</a:t>
            </a:r>
            <a:br/>
            <a:r>
              <a:t>Supply need / supplier decision → customer delivery → performance review.</a:t>
            </a:r>
          </a:p>
        </p:txBody>
      </p:sp>
      <p:sp>
        <p:nvSpPr>
          <p:cNvPr id="1048588" name="Rounded Rectangle 5"/>
          <p:cNvSpPr/>
          <p:nvPr/>
        </p:nvSpPr>
        <p:spPr>
          <a:xfrm>
            <a:off x="8138160" y="1645920"/>
            <a:ext cx="3291840" cy="1097280"/>
          </a:xfrm>
          <a:prstGeom prst="roundRect"/>
          <a:solidFill>
            <a:srgbClr val="FFF2CC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200">
                <a:solidFill>
                  <a:srgbClr val="2D3741"/>
                </a:solidFill>
                <a:latin typeface="Aptos"/>
              </a:defRPr>
            </a:pPr>
            <a:r>
              <a:t>IMPORTANT LIMITATION</a:t>
            </a:r>
            <a:br/>
            <a:r>
              <a:t>Generic reference model; not verified Samsung operating procedure.</a:t>
            </a:r>
          </a:p>
        </p:txBody>
      </p:sp>
      <p:sp>
        <p:nvSpPr>
          <p:cNvPr id="1048589" name="Rounded Rectangle 6"/>
          <p:cNvSpPr/>
          <p:nvPr/>
        </p:nvSpPr>
        <p:spPr>
          <a:xfrm>
            <a:off x="1005840" y="3749039"/>
            <a:ext cx="10149840" cy="1097280"/>
          </a:xfrm>
          <a:prstGeom prst="roundRect"/>
          <a:solidFill>
            <a:srgbClr val="FFFFFF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600">
                <a:solidFill>
                  <a:srgbClr val="2D3741"/>
                </a:solidFill>
                <a:latin typeface="Aptos"/>
              </a:defRPr>
            </a:pPr>
            <a:r>
              <a:t>Validate roles, As-Is activities, source fields, and KPI definitions before claiming findings.</a:t>
            </a:r>
          </a:p>
        </p:txBody>
      </p:sp>
      <p:sp>
        <p:nvSpPr>
          <p:cNvPr id="1048590" name="TextBox 7"/>
          <p:cNvSpPr txBox="1"/>
          <p:nvPr/>
        </p:nvSpPr>
        <p:spPr>
          <a:xfrm>
            <a:off x="365760" y="6565392"/>
            <a:ext cx="2912884" cy="218440"/>
          </a:xfrm>
          <a:prstGeom prst="rect"/>
          <a:noFill/>
        </p:spPr>
        <p:txBody>
          <a:bodyPr wrap="none">
            <a:spAutoFit/>
          </a:bodyPr>
          <a:p>
            <a:pPr algn="ctr">
              <a:defRPr sz="800">
                <a:solidFill>
                  <a:srgbClr val="646E78"/>
                </a:solidFill>
                <a:latin typeface="Aptos"/>
              </a:defRPr>
            </a:pPr>
            <a:r>
              <a:t>Supply Chain Cost Optimization &amp; Performance Analytics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/>
      </p:grpSpPr>
      <p:sp>
        <p:nvSpPr>
          <p:cNvPr id="1048591" name="TextBox 1"/>
          <p:cNvSpPr txBox="1"/>
          <p:nvPr/>
        </p:nvSpPr>
        <p:spPr>
          <a:xfrm>
            <a:off x="411480" y="228600"/>
            <a:ext cx="4452908" cy="472440"/>
          </a:xfrm>
          <a:prstGeom prst="rect"/>
          <a:noFill/>
        </p:spPr>
        <p:txBody>
          <a:bodyPr wrap="none">
            <a:spAutoFit/>
          </a:bodyPr>
          <a:p>
            <a:pPr>
              <a:defRPr b="1" sz="2500">
                <a:solidFill>
                  <a:srgbClr val="1F4E79"/>
                </a:solidFill>
                <a:latin typeface="Aptos Display"/>
              </a:defRPr>
            </a:pPr>
            <a:r>
              <a:t>1. HIGH-LEVEL PROCESS MAP</a:t>
            </a:r>
          </a:p>
        </p:txBody>
      </p:sp>
      <p:sp>
        <p:nvSpPr>
          <p:cNvPr id="1048592" name="TextBox 2"/>
          <p:cNvSpPr txBox="1"/>
          <p:nvPr/>
        </p:nvSpPr>
        <p:spPr>
          <a:xfrm>
            <a:off x="438912" y="777240"/>
            <a:ext cx="3520500" cy="256541"/>
          </a:xfrm>
          <a:prstGeom prst="rect"/>
          <a:noFill/>
        </p:spPr>
        <p:txBody>
          <a:bodyPr wrap="none">
            <a:spAutoFit/>
          </a:bodyPr>
          <a:p>
            <a:pPr>
              <a:defRPr sz="1000">
                <a:solidFill>
                  <a:srgbClr val="646E78"/>
                </a:solidFill>
                <a:latin typeface="Aptos"/>
              </a:defRPr>
            </a:pPr>
            <a:r>
              <a:t>Read left to right. Production / preparation is conditional.</a:t>
            </a:r>
          </a:p>
        </p:txBody>
      </p:sp>
      <p:sp>
        <p:nvSpPr>
          <p:cNvPr id="1048593" name="Rounded Rectangle 3"/>
          <p:cNvSpPr/>
          <p:nvPr/>
        </p:nvSpPr>
        <p:spPr>
          <a:xfrm>
            <a:off x="365760" y="1508760"/>
            <a:ext cx="1417320" cy="777240"/>
          </a:xfrm>
          <a:prstGeom prst="round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00">
                <a:solidFill>
                  <a:srgbClr val="2D3741"/>
                </a:solidFill>
                <a:latin typeface="Aptos"/>
              </a:defRPr>
            </a:pPr>
            <a:r>
              <a:t>1. Identify</a:t>
            </a:r>
            <a:br/>
            <a:r>
              <a:t>need</a:t>
            </a:r>
          </a:p>
        </p:txBody>
      </p:sp>
      <p:sp>
        <p:nvSpPr>
          <p:cNvPr id="1048594" name="Rounded Rectangle 4"/>
          <p:cNvSpPr/>
          <p:nvPr/>
        </p:nvSpPr>
        <p:spPr>
          <a:xfrm>
            <a:off x="2240280" y="1508760"/>
            <a:ext cx="1417320" cy="777240"/>
          </a:xfrm>
          <a:prstGeom prst="round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00">
                <a:solidFill>
                  <a:srgbClr val="2D3741"/>
                </a:solidFill>
                <a:latin typeface="Aptos"/>
              </a:defRPr>
            </a:pPr>
            <a:r>
              <a:t>2. Evaluate</a:t>
            </a:r>
            <a:br/>
            <a:r>
              <a:t>supplier</a:t>
            </a:r>
          </a:p>
        </p:txBody>
      </p:sp>
      <p:sp>
        <p:nvSpPr>
          <p:cNvPr id="1048595" name="Rounded Rectangle 5"/>
          <p:cNvSpPr/>
          <p:nvPr/>
        </p:nvSpPr>
        <p:spPr>
          <a:xfrm>
            <a:off x="4114800" y="1508760"/>
            <a:ext cx="1417320" cy="777240"/>
          </a:xfrm>
          <a:prstGeom prst="round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00">
                <a:solidFill>
                  <a:srgbClr val="2D3741"/>
                </a:solidFill>
                <a:latin typeface="Aptos"/>
              </a:defRPr>
            </a:pPr>
            <a:r>
              <a:t>3. Raise</a:t>
            </a:r>
            <a:br/>
            <a:r>
              <a:t>purchase order</a:t>
            </a:r>
          </a:p>
        </p:txBody>
      </p:sp>
      <p:sp>
        <p:nvSpPr>
          <p:cNvPr id="1048596" name="Rounded Rectangle 6"/>
          <p:cNvSpPr/>
          <p:nvPr/>
        </p:nvSpPr>
        <p:spPr>
          <a:xfrm>
            <a:off x="5989320" y="1508760"/>
            <a:ext cx="1417320" cy="777240"/>
          </a:xfrm>
          <a:prstGeom prst="round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00">
                <a:solidFill>
                  <a:srgbClr val="2D3741"/>
                </a:solidFill>
                <a:latin typeface="Aptos"/>
              </a:defRPr>
            </a:pPr>
            <a:r>
              <a:t>4. Receive &amp;</a:t>
            </a:r>
            <a:br/>
            <a:r>
              <a:t>inspect</a:t>
            </a:r>
          </a:p>
        </p:txBody>
      </p:sp>
      <p:sp>
        <p:nvSpPr>
          <p:cNvPr id="1048597" name="Rounded Rectangle 7"/>
          <p:cNvSpPr/>
          <p:nvPr/>
        </p:nvSpPr>
        <p:spPr>
          <a:xfrm>
            <a:off x="7863840" y="1508760"/>
            <a:ext cx="1417320" cy="777240"/>
          </a:xfrm>
          <a:prstGeom prst="round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00">
                <a:solidFill>
                  <a:srgbClr val="2D3741"/>
                </a:solidFill>
                <a:latin typeface="Aptos"/>
              </a:defRPr>
            </a:pPr>
            <a:r>
              <a:t>5. Update</a:t>
            </a:r>
            <a:br/>
            <a:r>
              <a:t>inventory</a:t>
            </a:r>
          </a:p>
        </p:txBody>
      </p:sp>
      <p:sp>
        <p:nvSpPr>
          <p:cNvPr id="1048598" name="Rounded Rectangle 8"/>
          <p:cNvSpPr/>
          <p:nvPr/>
        </p:nvSpPr>
        <p:spPr>
          <a:xfrm>
            <a:off x="9738360" y="1508760"/>
            <a:ext cx="1417320" cy="777240"/>
          </a:xfrm>
          <a:prstGeom prst="round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00">
                <a:solidFill>
                  <a:srgbClr val="2D3741"/>
                </a:solidFill>
                <a:latin typeface="Aptos"/>
              </a:defRPr>
            </a:pPr>
            <a:r>
              <a:t>6. Produce /</a:t>
            </a:r>
            <a:br/>
            <a:r>
              <a:t>prepare*</a:t>
            </a:r>
          </a:p>
        </p:txBody>
      </p:sp>
      <p:cxnSp>
        <p:nvCxnSpPr>
          <p:cNvPr id="3145728" name="Connector 9"/>
          <p:cNvCxnSpPr>
            <a:cxnSpLocks/>
          </p:cNvCxnSpPr>
          <p:nvPr/>
        </p:nvCxnSpPr>
        <p:spPr>
          <a:xfrm>
            <a:off x="1783080" y="1897380"/>
            <a:ext cx="457200" cy="0"/>
          </a:xfrm>
          <a:prstGeom prst="line"/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29" name="Connector 10"/>
          <p:cNvCxnSpPr>
            <a:cxnSpLocks/>
          </p:cNvCxnSpPr>
          <p:nvPr/>
        </p:nvCxnSpPr>
        <p:spPr>
          <a:xfrm>
            <a:off x="3657600" y="1897380"/>
            <a:ext cx="457200" cy="0"/>
          </a:xfrm>
          <a:prstGeom prst="line"/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0" name="Connector 11"/>
          <p:cNvCxnSpPr>
            <a:cxnSpLocks/>
          </p:cNvCxnSpPr>
          <p:nvPr/>
        </p:nvCxnSpPr>
        <p:spPr>
          <a:xfrm>
            <a:off x="5532120" y="1897380"/>
            <a:ext cx="457200" cy="0"/>
          </a:xfrm>
          <a:prstGeom prst="line"/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1" name="Connector 12"/>
          <p:cNvCxnSpPr>
            <a:cxnSpLocks/>
          </p:cNvCxnSpPr>
          <p:nvPr/>
        </p:nvCxnSpPr>
        <p:spPr>
          <a:xfrm>
            <a:off x="7406640" y="1897380"/>
            <a:ext cx="457200" cy="0"/>
          </a:xfrm>
          <a:prstGeom prst="line"/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2" name="Connector 13"/>
          <p:cNvCxnSpPr>
            <a:cxnSpLocks/>
          </p:cNvCxnSpPr>
          <p:nvPr/>
        </p:nvCxnSpPr>
        <p:spPr>
          <a:xfrm>
            <a:off x="9281160" y="1897380"/>
            <a:ext cx="457200" cy="0"/>
          </a:xfrm>
          <a:prstGeom prst="line"/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599" name="Rounded Rectangle 14"/>
          <p:cNvSpPr/>
          <p:nvPr/>
        </p:nvSpPr>
        <p:spPr>
          <a:xfrm>
            <a:off x="1508760" y="3337560"/>
            <a:ext cx="2011680" cy="822960"/>
          </a:xfrm>
          <a:prstGeom prst="round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100">
                <a:solidFill>
                  <a:srgbClr val="2D3741"/>
                </a:solidFill>
                <a:latin typeface="Aptos"/>
              </a:defRPr>
            </a:pPr>
            <a:r>
              <a:t>7. Plan shipment</a:t>
            </a:r>
          </a:p>
        </p:txBody>
      </p:sp>
      <p:sp>
        <p:nvSpPr>
          <p:cNvPr id="1048600" name="Rounded Rectangle 15"/>
          <p:cNvSpPr/>
          <p:nvPr/>
        </p:nvSpPr>
        <p:spPr>
          <a:xfrm>
            <a:off x="5074920" y="3337560"/>
            <a:ext cx="2011680" cy="822960"/>
          </a:xfrm>
          <a:prstGeom prst="round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100">
                <a:solidFill>
                  <a:srgbClr val="2D3741"/>
                </a:solidFill>
                <a:latin typeface="Aptos"/>
              </a:defRPr>
            </a:pPr>
            <a:r>
              <a:t>8. Dispatch &amp; deliver</a:t>
            </a:r>
          </a:p>
        </p:txBody>
      </p:sp>
      <p:sp>
        <p:nvSpPr>
          <p:cNvPr id="1048601" name="Rounded Rectangle 16"/>
          <p:cNvSpPr/>
          <p:nvPr/>
        </p:nvSpPr>
        <p:spPr>
          <a:xfrm>
            <a:off x="8641080" y="3337560"/>
            <a:ext cx="2011680" cy="822960"/>
          </a:xfrm>
          <a:prstGeom prst="round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100">
                <a:solidFill>
                  <a:srgbClr val="2D3741"/>
                </a:solidFill>
                <a:latin typeface="Aptos"/>
              </a:defRPr>
            </a:pPr>
            <a:r>
              <a:t>9. Review performance</a:t>
            </a:r>
          </a:p>
        </p:txBody>
      </p:sp>
      <p:cxnSp>
        <p:nvCxnSpPr>
          <p:cNvPr id="3145733" name="Connector 17"/>
          <p:cNvCxnSpPr>
            <a:cxnSpLocks/>
          </p:cNvCxnSpPr>
          <p:nvPr/>
        </p:nvCxnSpPr>
        <p:spPr>
          <a:xfrm flipH="1">
            <a:off x="2514600" y="2286000"/>
            <a:ext cx="7909560" cy="1051560"/>
          </a:xfrm>
          <a:prstGeom prst="line"/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4" name="Connector 18"/>
          <p:cNvCxnSpPr>
            <a:cxnSpLocks/>
          </p:cNvCxnSpPr>
          <p:nvPr/>
        </p:nvCxnSpPr>
        <p:spPr>
          <a:xfrm>
            <a:off x="3520440" y="3749039"/>
            <a:ext cx="1554480" cy="0"/>
          </a:xfrm>
          <a:prstGeom prst="line"/>
          <a:ln w="1905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5" name="Connector 19"/>
          <p:cNvCxnSpPr>
            <a:cxnSpLocks/>
          </p:cNvCxnSpPr>
          <p:nvPr/>
        </p:nvCxnSpPr>
        <p:spPr>
          <a:xfrm>
            <a:off x="7086600" y="3749039"/>
            <a:ext cx="1554480" cy="0"/>
          </a:xfrm>
          <a:prstGeom prst="line"/>
          <a:ln w="1905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02" name="TextBox 20"/>
          <p:cNvSpPr txBox="1"/>
          <p:nvPr/>
        </p:nvSpPr>
        <p:spPr>
          <a:xfrm>
            <a:off x="640080" y="4800600"/>
            <a:ext cx="6467942" cy="281940"/>
          </a:xfrm>
          <a:prstGeom prst="rect"/>
          <a:noFill/>
        </p:spPr>
        <p:txBody>
          <a:bodyPr wrap="none">
            <a:spAutoFit/>
          </a:bodyPr>
          <a:p>
            <a:pPr>
              <a:defRPr sz="1200">
                <a:solidFill>
                  <a:srgbClr val="2D3741"/>
                </a:solidFill>
                <a:latin typeface="Aptos"/>
              </a:defRPr>
            </a:pPr>
            <a:r>
              <a:t> Decision gates: supplier qualifies? receipt passes inspection? delivery on time and in full?</a:t>
            </a:r>
          </a:p>
        </p:txBody>
      </p:sp>
      <p:sp>
        <p:nvSpPr>
          <p:cNvPr id="1048603" name="TextBox 21"/>
          <p:cNvSpPr txBox="1"/>
          <p:nvPr/>
        </p:nvSpPr>
        <p:spPr>
          <a:xfrm>
            <a:off x="365760" y="6565392"/>
            <a:ext cx="2912884" cy="218440"/>
          </a:xfrm>
          <a:prstGeom prst="rect"/>
          <a:noFill/>
        </p:spPr>
        <p:txBody>
          <a:bodyPr wrap="none">
            <a:spAutoFit/>
          </a:bodyPr>
          <a:p>
            <a:pPr algn="ctr">
              <a:defRPr sz="800">
                <a:solidFill>
                  <a:srgbClr val="646E78"/>
                </a:solidFill>
                <a:latin typeface="Aptos"/>
              </a:defRPr>
            </a:pPr>
            <a:r>
              <a:t>Supply Chain Cost Optimization &amp; Performance Analytics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/>
      </p:grpSpPr>
      <p:sp>
        <p:nvSpPr>
          <p:cNvPr id="1048604" name="TextBox 1"/>
          <p:cNvSpPr txBox="1"/>
          <p:nvPr/>
        </p:nvSpPr>
        <p:spPr>
          <a:xfrm>
            <a:off x="411480" y="228600"/>
            <a:ext cx="5459433" cy="472440"/>
          </a:xfrm>
          <a:prstGeom prst="rect"/>
          <a:noFill/>
        </p:spPr>
        <p:txBody>
          <a:bodyPr wrap="none">
            <a:spAutoFit/>
          </a:bodyPr>
          <a:p>
            <a:pPr>
              <a:defRPr b="1" sz="2500">
                <a:solidFill>
                  <a:srgbClr val="1F4E79"/>
                </a:solidFill>
                <a:latin typeface="Aptos Display"/>
              </a:defRPr>
            </a:pPr>
            <a:r>
              <a:t>2. SWIMLANE: ROLES &amp; HAND-OFFS</a:t>
            </a:r>
          </a:p>
        </p:txBody>
      </p:sp>
      <p:sp>
        <p:nvSpPr>
          <p:cNvPr id="1048605" name="TextBox 2"/>
          <p:cNvSpPr txBox="1"/>
          <p:nvPr/>
        </p:nvSpPr>
        <p:spPr>
          <a:xfrm>
            <a:off x="438912" y="777240"/>
            <a:ext cx="5601464" cy="256541"/>
          </a:xfrm>
          <a:prstGeom prst="rect"/>
          <a:noFill/>
        </p:spPr>
        <p:txBody>
          <a:bodyPr wrap="none">
            <a:spAutoFit/>
          </a:bodyPr>
          <a:p>
            <a:pPr>
              <a:defRPr sz="1000">
                <a:solidFill>
                  <a:srgbClr val="646E78"/>
                </a:solidFill>
                <a:latin typeface="Aptos"/>
              </a:defRPr>
            </a:pPr>
            <a:r>
              <a:t>Conceptual responsibility view — confirm actual ownership before calling this an As-Is map.</a:t>
            </a:r>
          </a:p>
        </p:txBody>
      </p:sp>
      <p:sp>
        <p:nvSpPr>
          <p:cNvPr id="1048606" name="Rectangle 3"/>
          <p:cNvSpPr/>
          <p:nvPr/>
        </p:nvSpPr>
        <p:spPr>
          <a:xfrm>
            <a:off x="320040" y="1298448"/>
            <a:ext cx="1691640" cy="521207"/>
          </a:xfrm>
          <a:prstGeom prst="rect"/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750">
                <a:solidFill>
                  <a:srgbClr val="FFFFFF"/>
                </a:solidFill>
                <a:latin typeface="Aptos"/>
              </a:defRPr>
            </a:pPr>
            <a:r>
              <a:t>Business / Planning</a:t>
            </a:r>
          </a:p>
        </p:txBody>
      </p:sp>
      <p:sp>
        <p:nvSpPr>
          <p:cNvPr id="1048607" name="Rectangle 4"/>
          <p:cNvSpPr/>
          <p:nvPr/>
        </p:nvSpPr>
        <p:spPr>
          <a:xfrm>
            <a:off x="2148840" y="1298448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Identify need</a:t>
            </a:r>
          </a:p>
        </p:txBody>
      </p:sp>
      <p:sp>
        <p:nvSpPr>
          <p:cNvPr id="1048608" name="Rectangle 5"/>
          <p:cNvSpPr/>
          <p:nvPr/>
        </p:nvSpPr>
        <p:spPr>
          <a:xfrm>
            <a:off x="5394960" y="1298448"/>
            <a:ext cx="3017520" cy="521207"/>
          </a:xfrm>
          <a:prstGeom prst="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Set priority</a:t>
            </a:r>
          </a:p>
        </p:txBody>
      </p:sp>
      <p:sp>
        <p:nvSpPr>
          <p:cNvPr id="1048609" name="Rectangle 6"/>
          <p:cNvSpPr/>
          <p:nvPr/>
        </p:nvSpPr>
        <p:spPr>
          <a:xfrm>
            <a:off x="8641080" y="1298448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Review outcome</a:t>
            </a:r>
          </a:p>
        </p:txBody>
      </p:sp>
      <p:sp>
        <p:nvSpPr>
          <p:cNvPr id="1048610" name="Rectangle 7"/>
          <p:cNvSpPr/>
          <p:nvPr/>
        </p:nvSpPr>
        <p:spPr>
          <a:xfrm>
            <a:off x="320040" y="1956815"/>
            <a:ext cx="1691640" cy="521207"/>
          </a:xfrm>
          <a:prstGeom prst="rect"/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750">
                <a:solidFill>
                  <a:srgbClr val="FFFFFF"/>
                </a:solidFill>
                <a:latin typeface="Aptos"/>
              </a:defRPr>
            </a:pPr>
            <a:r>
              <a:t>Procurement</a:t>
            </a:r>
          </a:p>
        </p:txBody>
      </p:sp>
      <p:sp>
        <p:nvSpPr>
          <p:cNvPr id="1048611" name="Rectangle 8"/>
          <p:cNvSpPr/>
          <p:nvPr/>
        </p:nvSpPr>
        <p:spPr>
          <a:xfrm>
            <a:off x="2148840" y="1956815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Compare suppliers</a:t>
            </a:r>
          </a:p>
        </p:txBody>
      </p:sp>
      <p:sp>
        <p:nvSpPr>
          <p:cNvPr id="1048612" name="Rectangle 9"/>
          <p:cNvSpPr/>
          <p:nvPr/>
        </p:nvSpPr>
        <p:spPr>
          <a:xfrm>
            <a:off x="5394960" y="1956815"/>
            <a:ext cx="3017520" cy="521207"/>
          </a:xfrm>
          <a:prstGeom prst="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Create PO</a:t>
            </a:r>
          </a:p>
        </p:txBody>
      </p:sp>
      <p:sp>
        <p:nvSpPr>
          <p:cNvPr id="1048613" name="Rectangle 10"/>
          <p:cNvSpPr/>
          <p:nvPr/>
        </p:nvSpPr>
        <p:spPr>
          <a:xfrm>
            <a:off x="8641080" y="1956815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Review supplier</a:t>
            </a:r>
          </a:p>
        </p:txBody>
      </p:sp>
      <p:sp>
        <p:nvSpPr>
          <p:cNvPr id="1048614" name="Rectangle 11"/>
          <p:cNvSpPr/>
          <p:nvPr/>
        </p:nvSpPr>
        <p:spPr>
          <a:xfrm>
            <a:off x="320040" y="2615184"/>
            <a:ext cx="1691640" cy="521207"/>
          </a:xfrm>
          <a:prstGeom prst="rect"/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750">
                <a:solidFill>
                  <a:srgbClr val="FFFFFF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1048615" name="Rectangle 12"/>
          <p:cNvSpPr/>
          <p:nvPr/>
        </p:nvSpPr>
        <p:spPr>
          <a:xfrm>
            <a:off x="2148840" y="2615184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Quote / confirm</a:t>
            </a:r>
          </a:p>
        </p:txBody>
      </p:sp>
      <p:sp>
        <p:nvSpPr>
          <p:cNvPr id="1048616" name="Rectangle 13"/>
          <p:cNvSpPr/>
          <p:nvPr/>
        </p:nvSpPr>
        <p:spPr>
          <a:xfrm>
            <a:off x="5394960" y="2615184"/>
            <a:ext cx="3017520" cy="521207"/>
          </a:xfrm>
          <a:prstGeom prst="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Supply goods</a:t>
            </a:r>
          </a:p>
        </p:txBody>
      </p:sp>
      <p:sp>
        <p:nvSpPr>
          <p:cNvPr id="1048617" name="Rectangle 14"/>
          <p:cNvSpPr/>
          <p:nvPr/>
        </p:nvSpPr>
        <p:spPr>
          <a:xfrm>
            <a:off x="8641080" y="2615184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Resolve exceptions</a:t>
            </a:r>
          </a:p>
        </p:txBody>
      </p:sp>
      <p:sp>
        <p:nvSpPr>
          <p:cNvPr id="1048618" name="Rectangle 15"/>
          <p:cNvSpPr/>
          <p:nvPr/>
        </p:nvSpPr>
        <p:spPr>
          <a:xfrm>
            <a:off x="320040" y="3273552"/>
            <a:ext cx="1691640" cy="521207"/>
          </a:xfrm>
          <a:prstGeom prst="rect"/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750">
                <a:solidFill>
                  <a:srgbClr val="FFFFFF"/>
                </a:solidFill>
                <a:latin typeface="Aptos"/>
              </a:defRPr>
            </a:pPr>
            <a:r>
              <a:t>Warehouse / Inventory</a:t>
            </a:r>
          </a:p>
        </p:txBody>
      </p:sp>
      <p:sp>
        <p:nvSpPr>
          <p:cNvPr id="1048619" name="Rectangle 16"/>
          <p:cNvSpPr/>
          <p:nvPr/>
        </p:nvSpPr>
        <p:spPr>
          <a:xfrm>
            <a:off x="2148840" y="3273552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Check stock</a:t>
            </a:r>
          </a:p>
        </p:txBody>
      </p:sp>
      <p:sp>
        <p:nvSpPr>
          <p:cNvPr id="1048620" name="Rectangle 17"/>
          <p:cNvSpPr/>
          <p:nvPr/>
        </p:nvSpPr>
        <p:spPr>
          <a:xfrm>
            <a:off x="5394960" y="3273552"/>
            <a:ext cx="3017520" cy="521207"/>
          </a:xfrm>
          <a:prstGeom prst="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Receive / inspect</a:t>
            </a:r>
          </a:p>
        </p:txBody>
      </p:sp>
      <p:sp>
        <p:nvSpPr>
          <p:cNvPr id="1048621" name="Rectangle 18"/>
          <p:cNvSpPr/>
          <p:nvPr/>
        </p:nvSpPr>
        <p:spPr>
          <a:xfrm>
            <a:off x="8641080" y="3273552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Update stock</a:t>
            </a:r>
          </a:p>
        </p:txBody>
      </p:sp>
      <p:sp>
        <p:nvSpPr>
          <p:cNvPr id="1048622" name="Rectangle 19"/>
          <p:cNvSpPr/>
          <p:nvPr/>
        </p:nvSpPr>
        <p:spPr>
          <a:xfrm>
            <a:off x="320040" y="3931920"/>
            <a:ext cx="1691640" cy="521207"/>
          </a:xfrm>
          <a:prstGeom prst="rect"/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750">
                <a:solidFill>
                  <a:srgbClr val="FFFFFF"/>
                </a:solidFill>
                <a:latin typeface="Aptos"/>
              </a:defRPr>
            </a:pPr>
            <a:r>
              <a:t>Production / Ops</a:t>
            </a:r>
          </a:p>
        </p:txBody>
      </p:sp>
      <p:sp>
        <p:nvSpPr>
          <p:cNvPr id="1048623" name="Rectangle 20"/>
          <p:cNvSpPr/>
          <p:nvPr/>
        </p:nvSpPr>
        <p:spPr>
          <a:xfrm>
            <a:off x="2148840" y="3931920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Confirm need</a:t>
            </a:r>
          </a:p>
        </p:txBody>
      </p:sp>
      <p:sp>
        <p:nvSpPr>
          <p:cNvPr id="1048624" name="Rectangle 21"/>
          <p:cNvSpPr/>
          <p:nvPr/>
        </p:nvSpPr>
        <p:spPr>
          <a:xfrm>
            <a:off x="5394960" y="3931920"/>
            <a:ext cx="3017520" cy="521207"/>
          </a:xfrm>
          <a:prstGeom prst="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Produce / quality-check*</a:t>
            </a:r>
          </a:p>
        </p:txBody>
      </p:sp>
      <p:sp>
        <p:nvSpPr>
          <p:cNvPr id="1048625" name="Rectangle 22"/>
          <p:cNvSpPr/>
          <p:nvPr/>
        </p:nvSpPr>
        <p:spPr>
          <a:xfrm>
            <a:off x="8641080" y="3931920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Review output*</a:t>
            </a:r>
          </a:p>
        </p:txBody>
      </p:sp>
      <p:sp>
        <p:nvSpPr>
          <p:cNvPr id="1048626" name="Rectangle 23"/>
          <p:cNvSpPr/>
          <p:nvPr/>
        </p:nvSpPr>
        <p:spPr>
          <a:xfrm>
            <a:off x="320040" y="4590288"/>
            <a:ext cx="1691640" cy="521207"/>
          </a:xfrm>
          <a:prstGeom prst="rect"/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750">
                <a:solidFill>
                  <a:srgbClr val="FFFFFF"/>
                </a:solidFill>
                <a:latin typeface="Aptos"/>
              </a:defRPr>
            </a:pPr>
            <a:r>
              <a:t>Logistics / Carrier</a:t>
            </a:r>
          </a:p>
        </p:txBody>
      </p:sp>
      <p:sp>
        <p:nvSpPr>
          <p:cNvPr id="1048627" name="Rectangle 24"/>
          <p:cNvSpPr/>
          <p:nvPr/>
        </p:nvSpPr>
        <p:spPr>
          <a:xfrm>
            <a:off x="2148840" y="4590288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Plan shipment</a:t>
            </a:r>
          </a:p>
        </p:txBody>
      </p:sp>
      <p:sp>
        <p:nvSpPr>
          <p:cNvPr id="1048628" name="Rectangle 25"/>
          <p:cNvSpPr/>
          <p:nvPr/>
        </p:nvSpPr>
        <p:spPr>
          <a:xfrm>
            <a:off x="5394960" y="4590288"/>
            <a:ext cx="3017520" cy="521207"/>
          </a:xfrm>
          <a:prstGeom prst="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Dispatch / track</a:t>
            </a:r>
          </a:p>
        </p:txBody>
      </p:sp>
      <p:sp>
        <p:nvSpPr>
          <p:cNvPr id="1048629" name="Rectangle 26"/>
          <p:cNvSpPr/>
          <p:nvPr/>
        </p:nvSpPr>
        <p:spPr>
          <a:xfrm>
            <a:off x="8641080" y="4590288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Review freight</a:t>
            </a:r>
          </a:p>
        </p:txBody>
      </p:sp>
      <p:sp>
        <p:nvSpPr>
          <p:cNvPr id="1048630" name="Rectangle 27"/>
          <p:cNvSpPr/>
          <p:nvPr/>
        </p:nvSpPr>
        <p:spPr>
          <a:xfrm>
            <a:off x="320040" y="5248656"/>
            <a:ext cx="1691640" cy="521207"/>
          </a:xfrm>
          <a:prstGeom prst="rect"/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750">
                <a:solidFill>
                  <a:srgbClr val="FFFFFF"/>
                </a:solidFill>
                <a:latin typeface="Aptos"/>
              </a:defRPr>
            </a:pPr>
            <a:r>
              <a:t>Customer / Owner</a:t>
            </a:r>
          </a:p>
        </p:txBody>
      </p:sp>
      <p:sp>
        <p:nvSpPr>
          <p:cNvPr id="1048631" name="Rectangle 28"/>
          <p:cNvSpPr/>
          <p:nvPr/>
        </p:nvSpPr>
        <p:spPr>
          <a:xfrm>
            <a:off x="2148840" y="5248656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Set service need</a:t>
            </a:r>
          </a:p>
        </p:txBody>
      </p:sp>
      <p:sp>
        <p:nvSpPr>
          <p:cNvPr id="1048632" name="Rectangle 29"/>
          <p:cNvSpPr/>
          <p:nvPr/>
        </p:nvSpPr>
        <p:spPr>
          <a:xfrm>
            <a:off x="5394960" y="5248656"/>
            <a:ext cx="3017520" cy="521207"/>
          </a:xfrm>
          <a:prstGeom prst="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Receive delivery</a:t>
            </a:r>
          </a:p>
        </p:txBody>
      </p:sp>
      <p:sp>
        <p:nvSpPr>
          <p:cNvPr id="1048633" name="Rectangle 30"/>
          <p:cNvSpPr/>
          <p:nvPr/>
        </p:nvSpPr>
        <p:spPr>
          <a:xfrm>
            <a:off x="8641080" y="5248656"/>
            <a:ext cx="3017520" cy="521207"/>
          </a:xfrm>
          <a:prstGeom prst="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850">
                <a:solidFill>
                  <a:srgbClr val="2D3741"/>
                </a:solidFill>
                <a:latin typeface="Aptos"/>
              </a:defRPr>
            </a:pPr>
            <a:r>
              <a:t>Confirm / report issue</a:t>
            </a:r>
          </a:p>
        </p:txBody>
      </p:sp>
      <p:sp>
        <p:nvSpPr>
          <p:cNvPr id="1048634" name="TextBox 31"/>
          <p:cNvSpPr txBox="1"/>
          <p:nvPr/>
        </p:nvSpPr>
        <p:spPr>
          <a:xfrm>
            <a:off x="457200" y="5989320"/>
            <a:ext cx="6049288" cy="231140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646E78"/>
                </a:solidFill>
                <a:latin typeface="Aptos"/>
              </a:defRPr>
            </a:pPr>
            <a:r>
              <a:t>*Conditional stage. Swimlane shows role-based hand-offs, not exact timing or validated company responsibilities.</a:t>
            </a:r>
          </a:p>
        </p:txBody>
      </p:sp>
      <p:sp>
        <p:nvSpPr>
          <p:cNvPr id="1048635" name="TextBox 32"/>
          <p:cNvSpPr txBox="1"/>
          <p:nvPr/>
        </p:nvSpPr>
        <p:spPr>
          <a:xfrm>
            <a:off x="365760" y="6565392"/>
            <a:ext cx="2912884" cy="218440"/>
          </a:xfrm>
          <a:prstGeom prst="rect"/>
          <a:noFill/>
        </p:spPr>
        <p:txBody>
          <a:bodyPr wrap="none">
            <a:spAutoFit/>
          </a:bodyPr>
          <a:p>
            <a:pPr algn="ctr">
              <a:defRPr sz="800">
                <a:solidFill>
                  <a:srgbClr val="646E78"/>
                </a:solidFill>
                <a:latin typeface="Aptos"/>
              </a:defRPr>
            </a:pPr>
            <a:r>
              <a:t>Supply Chain Cost Optimization &amp; Performance Analytics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/>
      </p:grpSpPr>
      <p:sp>
        <p:nvSpPr>
          <p:cNvPr id="1048636" name="TextBox 1"/>
          <p:cNvSpPr txBox="1"/>
          <p:nvPr/>
        </p:nvSpPr>
        <p:spPr>
          <a:xfrm>
            <a:off x="411480" y="228600"/>
            <a:ext cx="5290315" cy="472440"/>
          </a:xfrm>
          <a:prstGeom prst="rect"/>
          <a:noFill/>
        </p:spPr>
        <p:txBody>
          <a:bodyPr wrap="none">
            <a:spAutoFit/>
          </a:bodyPr>
          <a:p>
            <a:pPr>
              <a:defRPr b="1" sz="2500">
                <a:solidFill>
                  <a:srgbClr val="1F4E79"/>
                </a:solidFill>
                <a:latin typeface="Aptos Display"/>
              </a:defRPr>
            </a:pPr>
            <a:r>
              <a:t>3. DECISION POINTS &amp; EXCEPTIONS</a:t>
            </a:r>
          </a:p>
        </p:txBody>
      </p:sp>
      <p:sp>
        <p:nvSpPr>
          <p:cNvPr id="1048637" name="TextBox 2"/>
          <p:cNvSpPr txBox="1"/>
          <p:nvPr/>
        </p:nvSpPr>
        <p:spPr>
          <a:xfrm>
            <a:off x="438912" y="777240"/>
            <a:ext cx="4767035" cy="256541"/>
          </a:xfrm>
          <a:prstGeom prst="rect"/>
          <a:noFill/>
        </p:spPr>
        <p:txBody>
          <a:bodyPr wrap="none">
            <a:spAutoFit/>
          </a:bodyPr>
          <a:p>
            <a:pPr>
              <a:defRPr sz="1000">
                <a:solidFill>
                  <a:srgbClr val="646E78"/>
                </a:solidFill>
                <a:latin typeface="Aptos"/>
              </a:defRPr>
            </a:pPr>
            <a:r>
              <a:t>Exception paths should have an owner, reason code, and resolution outcome.</a:t>
            </a:r>
          </a:p>
        </p:txBody>
      </p:sp>
      <p:sp>
        <p:nvSpPr>
          <p:cNvPr id="1048638" name="Rounded Rectangle 3"/>
          <p:cNvSpPr/>
          <p:nvPr/>
        </p:nvSpPr>
        <p:spPr>
          <a:xfrm>
            <a:off x="457200" y="1280160"/>
            <a:ext cx="3017520" cy="640080"/>
          </a:xfrm>
          <a:prstGeom prst="roundRect"/>
          <a:solidFill>
            <a:srgbClr val="FFF2CC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50">
                <a:solidFill>
                  <a:srgbClr val="2D3741"/>
                </a:solidFill>
                <a:latin typeface="Aptos"/>
              </a:defRPr>
            </a:pPr>
            <a:r>
              <a:t>Supplier qualified?</a:t>
            </a:r>
          </a:p>
        </p:txBody>
      </p:sp>
      <p:sp>
        <p:nvSpPr>
          <p:cNvPr id="1048639" name="Rounded Rectangle 4"/>
          <p:cNvSpPr/>
          <p:nvPr/>
        </p:nvSpPr>
        <p:spPr>
          <a:xfrm>
            <a:off x="3657600" y="1280160"/>
            <a:ext cx="3291840" cy="640080"/>
          </a:xfrm>
          <a:prstGeom prst="round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YES → purchase order</a:t>
            </a:r>
          </a:p>
        </p:txBody>
      </p:sp>
      <p:sp>
        <p:nvSpPr>
          <p:cNvPr id="1048640" name="Rounded Rectangle 5"/>
          <p:cNvSpPr/>
          <p:nvPr/>
        </p:nvSpPr>
        <p:spPr>
          <a:xfrm>
            <a:off x="7178040" y="1280160"/>
            <a:ext cx="4526280" cy="640080"/>
          </a:xfrm>
          <a:prstGeom prst="roundRect"/>
          <a:solidFill>
            <a:srgbClr val="FCE4D6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NO → reassess supplier / alternatives</a:t>
            </a:r>
          </a:p>
        </p:txBody>
      </p:sp>
      <p:sp>
        <p:nvSpPr>
          <p:cNvPr id="1048641" name="Rounded Rectangle 6"/>
          <p:cNvSpPr/>
          <p:nvPr/>
        </p:nvSpPr>
        <p:spPr>
          <a:xfrm>
            <a:off x="457200" y="2212848"/>
            <a:ext cx="3017520" cy="640080"/>
          </a:xfrm>
          <a:prstGeom prst="roundRect"/>
          <a:solidFill>
            <a:srgbClr val="FFF2CC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50">
                <a:solidFill>
                  <a:srgbClr val="2D3741"/>
                </a:solidFill>
                <a:latin typeface="Aptos"/>
              </a:defRPr>
            </a:pPr>
            <a:r>
              <a:t>Receipt matches PO &amp; passes inspection?</a:t>
            </a:r>
          </a:p>
        </p:txBody>
      </p:sp>
      <p:sp>
        <p:nvSpPr>
          <p:cNvPr id="1048642" name="Rounded Rectangle 7"/>
          <p:cNvSpPr/>
          <p:nvPr/>
        </p:nvSpPr>
        <p:spPr>
          <a:xfrm>
            <a:off x="3657600" y="2212848"/>
            <a:ext cx="3291840" cy="640080"/>
          </a:xfrm>
          <a:prstGeom prst="round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YES → accept and update stock</a:t>
            </a:r>
          </a:p>
        </p:txBody>
      </p:sp>
      <p:sp>
        <p:nvSpPr>
          <p:cNvPr id="1048643" name="Rounded Rectangle 8"/>
          <p:cNvSpPr/>
          <p:nvPr/>
        </p:nvSpPr>
        <p:spPr>
          <a:xfrm>
            <a:off x="7178040" y="2212848"/>
            <a:ext cx="4526280" cy="640080"/>
          </a:xfrm>
          <a:prstGeom prst="roundRect"/>
          <a:solidFill>
            <a:srgbClr val="FCE4D6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NO → record discrepancy; correct / replace</a:t>
            </a:r>
          </a:p>
        </p:txBody>
      </p:sp>
      <p:sp>
        <p:nvSpPr>
          <p:cNvPr id="1048644" name="Rounded Rectangle 9"/>
          <p:cNvSpPr/>
          <p:nvPr/>
        </p:nvSpPr>
        <p:spPr>
          <a:xfrm>
            <a:off x="457200" y="3145536"/>
            <a:ext cx="3017520" cy="640080"/>
          </a:xfrm>
          <a:prstGeom prst="roundRect"/>
          <a:solidFill>
            <a:srgbClr val="FFF2CC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50">
                <a:solidFill>
                  <a:srgbClr val="2D3741"/>
                </a:solidFill>
                <a:latin typeface="Aptos"/>
              </a:defRPr>
            </a:pPr>
            <a:r>
              <a:t>Production required?</a:t>
            </a:r>
          </a:p>
        </p:txBody>
      </p:sp>
      <p:sp>
        <p:nvSpPr>
          <p:cNvPr id="1048645" name="Rounded Rectangle 10"/>
          <p:cNvSpPr/>
          <p:nvPr/>
        </p:nvSpPr>
        <p:spPr>
          <a:xfrm>
            <a:off x="3657600" y="3145536"/>
            <a:ext cx="3291840" cy="640080"/>
          </a:xfrm>
          <a:prstGeom prst="round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YES → schedule production / quality check</a:t>
            </a:r>
          </a:p>
        </p:txBody>
      </p:sp>
      <p:sp>
        <p:nvSpPr>
          <p:cNvPr id="1048646" name="Rounded Rectangle 11"/>
          <p:cNvSpPr/>
          <p:nvPr/>
        </p:nvSpPr>
        <p:spPr>
          <a:xfrm>
            <a:off x="7178040" y="3145536"/>
            <a:ext cx="4526280" cy="640080"/>
          </a:xfrm>
          <a:prstGeom prst="roundRect"/>
          <a:solidFill>
            <a:srgbClr val="FCE4D6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NO → prepare for dispatch</a:t>
            </a:r>
          </a:p>
        </p:txBody>
      </p:sp>
      <p:sp>
        <p:nvSpPr>
          <p:cNvPr id="1048647" name="Rounded Rectangle 12"/>
          <p:cNvSpPr/>
          <p:nvPr/>
        </p:nvSpPr>
        <p:spPr>
          <a:xfrm>
            <a:off x="457200" y="4078224"/>
            <a:ext cx="3017520" cy="640080"/>
          </a:xfrm>
          <a:prstGeom prst="roundRect"/>
          <a:solidFill>
            <a:srgbClr val="FFF2CC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50">
                <a:solidFill>
                  <a:srgbClr val="2D3741"/>
                </a:solidFill>
                <a:latin typeface="Aptos"/>
              </a:defRPr>
            </a:pPr>
            <a:r>
              <a:t>Delivered on time and in full?</a:t>
            </a:r>
          </a:p>
        </p:txBody>
      </p:sp>
      <p:sp>
        <p:nvSpPr>
          <p:cNvPr id="1048648" name="Rounded Rectangle 13"/>
          <p:cNvSpPr/>
          <p:nvPr/>
        </p:nvSpPr>
        <p:spPr>
          <a:xfrm>
            <a:off x="3657600" y="4078224"/>
            <a:ext cx="3291840" cy="640080"/>
          </a:xfrm>
          <a:prstGeom prst="round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YES → close delivery</a:t>
            </a:r>
          </a:p>
        </p:txBody>
      </p:sp>
      <p:sp>
        <p:nvSpPr>
          <p:cNvPr id="1048649" name="Rounded Rectangle 14"/>
          <p:cNvSpPr/>
          <p:nvPr/>
        </p:nvSpPr>
        <p:spPr>
          <a:xfrm>
            <a:off x="7178040" y="4078224"/>
            <a:ext cx="4526280" cy="640080"/>
          </a:xfrm>
          <a:prstGeom prst="roundRect"/>
          <a:solidFill>
            <a:srgbClr val="FCE4D6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NO → log delay / shortage / damage</a:t>
            </a:r>
          </a:p>
        </p:txBody>
      </p:sp>
      <p:sp>
        <p:nvSpPr>
          <p:cNvPr id="1048650" name="Rounded Rectangle 15"/>
          <p:cNvSpPr/>
          <p:nvPr/>
        </p:nvSpPr>
        <p:spPr>
          <a:xfrm>
            <a:off x="457200" y="5010912"/>
            <a:ext cx="3017520" cy="640080"/>
          </a:xfrm>
          <a:prstGeom prst="roundRect"/>
          <a:solidFill>
            <a:srgbClr val="FFF2CC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50">
                <a:solidFill>
                  <a:srgbClr val="2D3741"/>
                </a:solidFill>
                <a:latin typeface="Aptos"/>
              </a:defRPr>
            </a:pPr>
            <a:r>
              <a:t>KPI outside threshold?</a:t>
            </a:r>
          </a:p>
        </p:txBody>
      </p:sp>
      <p:sp>
        <p:nvSpPr>
          <p:cNvPr id="1048651" name="Rounded Rectangle 16"/>
          <p:cNvSpPr/>
          <p:nvPr/>
        </p:nvSpPr>
        <p:spPr>
          <a:xfrm>
            <a:off x="3657600" y="5010912"/>
            <a:ext cx="3291840" cy="640080"/>
          </a:xfrm>
          <a:prstGeom prst="round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YES → assign corrective action</a:t>
            </a:r>
          </a:p>
        </p:txBody>
      </p:sp>
      <p:sp>
        <p:nvSpPr>
          <p:cNvPr id="1048652" name="Rounded Rectangle 17"/>
          <p:cNvSpPr/>
          <p:nvPr/>
        </p:nvSpPr>
        <p:spPr>
          <a:xfrm>
            <a:off x="7178040" y="5010912"/>
            <a:ext cx="4526280" cy="640080"/>
          </a:xfrm>
          <a:prstGeom prst="roundRect"/>
          <a:solidFill>
            <a:srgbClr val="FCE4D6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NO → continue monitoring</a:t>
            </a:r>
          </a:p>
        </p:txBody>
      </p:sp>
      <p:sp>
        <p:nvSpPr>
          <p:cNvPr id="1048653" name="TextBox 18"/>
          <p:cNvSpPr txBox="1"/>
          <p:nvPr/>
        </p:nvSpPr>
        <p:spPr>
          <a:xfrm>
            <a:off x="365760" y="6565392"/>
            <a:ext cx="2912884" cy="218440"/>
          </a:xfrm>
          <a:prstGeom prst="rect"/>
          <a:noFill/>
        </p:spPr>
        <p:txBody>
          <a:bodyPr wrap="none">
            <a:spAutoFit/>
          </a:bodyPr>
          <a:p>
            <a:pPr algn="ctr">
              <a:defRPr sz="800">
                <a:solidFill>
                  <a:srgbClr val="646E78"/>
                </a:solidFill>
                <a:latin typeface="Aptos"/>
              </a:defRPr>
            </a:pPr>
            <a:r>
              <a:t>Supply Chain Cost Optimization &amp; Performance Analytics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654" name="TextBox 1"/>
          <p:cNvSpPr txBox="1"/>
          <p:nvPr/>
        </p:nvSpPr>
        <p:spPr>
          <a:xfrm>
            <a:off x="411480" y="228600"/>
            <a:ext cx="6072208" cy="472440"/>
          </a:xfrm>
          <a:prstGeom prst="rect"/>
          <a:noFill/>
        </p:spPr>
        <p:txBody>
          <a:bodyPr wrap="none">
            <a:spAutoFit/>
          </a:bodyPr>
          <a:p>
            <a:pPr>
              <a:defRPr b="1" sz="2500">
                <a:solidFill>
                  <a:srgbClr val="1F4E79"/>
                </a:solidFill>
                <a:latin typeface="Aptos Display"/>
              </a:defRPr>
            </a:pPr>
            <a:r>
              <a:t>4. AS-IS HYPOTHESES VS TO-BE DESIGN</a:t>
            </a:r>
          </a:p>
        </p:txBody>
      </p:sp>
      <p:sp>
        <p:nvSpPr>
          <p:cNvPr id="1048655" name="TextBox 2"/>
          <p:cNvSpPr txBox="1"/>
          <p:nvPr/>
        </p:nvSpPr>
        <p:spPr>
          <a:xfrm>
            <a:off x="438912" y="777240"/>
            <a:ext cx="4426417" cy="256541"/>
          </a:xfrm>
          <a:prstGeom prst="rect"/>
          <a:noFill/>
        </p:spPr>
        <p:txBody>
          <a:bodyPr wrap="none">
            <a:spAutoFit/>
          </a:bodyPr>
          <a:p>
            <a:pPr>
              <a:defRPr sz="1000">
                <a:solidFill>
                  <a:srgbClr val="646E78"/>
                </a:solidFill>
                <a:latin typeface="Aptos"/>
              </a:defRPr>
            </a:pPr>
            <a:r>
              <a:t>As-Is entries are unvalidated hypotheses, not factual company findings.</a:t>
            </a:r>
          </a:p>
        </p:txBody>
      </p:sp>
      <p:sp>
        <p:nvSpPr>
          <p:cNvPr id="1048656" name="Rectangle 3"/>
          <p:cNvSpPr/>
          <p:nvPr/>
        </p:nvSpPr>
        <p:spPr>
          <a:xfrm>
            <a:off x="457200" y="1234440"/>
            <a:ext cx="2560320" cy="502920"/>
          </a:xfrm>
          <a:prstGeom prst="rect"/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50">
                <a:solidFill>
                  <a:srgbClr val="FFFFFF"/>
                </a:solidFill>
                <a:latin typeface="Aptos"/>
              </a:defRPr>
            </a:pPr>
            <a:r>
              <a:t>PROCESS AREA</a:t>
            </a:r>
          </a:p>
        </p:txBody>
      </p:sp>
      <p:sp>
        <p:nvSpPr>
          <p:cNvPr id="1048657" name="Rectangle 4"/>
          <p:cNvSpPr/>
          <p:nvPr/>
        </p:nvSpPr>
        <p:spPr>
          <a:xfrm>
            <a:off x="3154680" y="1234440"/>
            <a:ext cx="3794760" cy="502920"/>
          </a:xfrm>
          <a:prstGeom prst="rect"/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50">
                <a:solidFill>
                  <a:srgbClr val="FFFFFF"/>
                </a:solidFill>
                <a:latin typeface="Aptos"/>
              </a:defRPr>
            </a:pPr>
            <a:r>
              <a:t>AS-IS HYPOTHESIS — VALIDATE</a:t>
            </a:r>
          </a:p>
        </p:txBody>
      </p:sp>
      <p:sp>
        <p:nvSpPr>
          <p:cNvPr id="1048658" name="Rectangle 5"/>
          <p:cNvSpPr/>
          <p:nvPr/>
        </p:nvSpPr>
        <p:spPr>
          <a:xfrm>
            <a:off x="7086600" y="1234440"/>
            <a:ext cx="4617720" cy="502920"/>
          </a:xfrm>
          <a:prstGeom prst="rect"/>
          <a:solidFill>
            <a:srgbClr val="1F4E79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50">
                <a:solidFill>
                  <a:srgbClr val="FFFFFF"/>
                </a:solidFill>
                <a:latin typeface="Aptos"/>
              </a:defRPr>
            </a:pPr>
            <a:r>
              <a:t>TO-BE DESIGN PROPOSAL</a:t>
            </a:r>
          </a:p>
        </p:txBody>
      </p:sp>
      <p:sp>
        <p:nvSpPr>
          <p:cNvPr id="1048659" name="Rectangle 6"/>
          <p:cNvSpPr/>
          <p:nvPr/>
        </p:nvSpPr>
        <p:spPr>
          <a:xfrm>
            <a:off x="457200" y="1828800"/>
            <a:ext cx="2560320" cy="667512"/>
          </a:xfrm>
          <a:prstGeom prst="rect"/>
          <a:solidFill>
            <a:srgbClr val="F2F6FA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50">
                <a:solidFill>
                  <a:srgbClr val="2D3741"/>
                </a:solidFill>
                <a:latin typeface="Aptos"/>
              </a:defRPr>
            </a:pPr>
            <a:r>
              <a:t>Supplier selection</a:t>
            </a:r>
          </a:p>
        </p:txBody>
      </p:sp>
      <p:sp>
        <p:nvSpPr>
          <p:cNvPr id="1048660" name="Rectangle 7"/>
          <p:cNvSpPr/>
          <p:nvPr/>
        </p:nvSpPr>
        <p:spPr>
          <a:xfrm>
            <a:off x="3154680" y="1828800"/>
            <a:ext cx="3794760" cy="667512"/>
          </a:xfrm>
          <a:prstGeom prst="rect"/>
          <a:solidFill>
            <a:srgbClr val="F2F6FA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Cost and service data may be reviewed separately.</a:t>
            </a:r>
          </a:p>
        </p:txBody>
      </p:sp>
      <p:sp>
        <p:nvSpPr>
          <p:cNvPr id="1048661" name="Rectangle 8"/>
          <p:cNvSpPr/>
          <p:nvPr/>
        </p:nvSpPr>
        <p:spPr>
          <a:xfrm>
            <a:off x="7086600" y="1828800"/>
            <a:ext cx="4617720" cy="667512"/>
          </a:xfrm>
          <a:prstGeom prst="rect"/>
          <a:solidFill>
            <a:srgbClr val="F2F6FA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Compare cost with lead time, reliability, and quality.</a:t>
            </a:r>
          </a:p>
        </p:txBody>
      </p:sp>
      <p:sp>
        <p:nvSpPr>
          <p:cNvPr id="1048662" name="Rectangle 9"/>
          <p:cNvSpPr/>
          <p:nvPr/>
        </p:nvSpPr>
        <p:spPr>
          <a:xfrm>
            <a:off x="457200" y="2651760"/>
            <a:ext cx="2560320" cy="667512"/>
          </a:xfrm>
          <a:prstGeom prst="rect"/>
          <a:solidFill>
            <a:srgbClr val="FFFFFF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50">
                <a:solidFill>
                  <a:srgbClr val="2D3741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048663" name="Rectangle 10"/>
          <p:cNvSpPr/>
          <p:nvPr/>
        </p:nvSpPr>
        <p:spPr>
          <a:xfrm>
            <a:off x="3154680" y="2651760"/>
            <a:ext cx="3794760" cy="667512"/>
          </a:xfrm>
          <a:prstGeom prst="rect"/>
          <a:solidFill>
            <a:srgbClr val="FFFFFF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Shortage/excess may be detected late.</a:t>
            </a:r>
          </a:p>
        </p:txBody>
      </p:sp>
      <p:sp>
        <p:nvSpPr>
          <p:cNvPr id="1048664" name="Rectangle 11"/>
          <p:cNvSpPr/>
          <p:nvPr/>
        </p:nvSpPr>
        <p:spPr>
          <a:xfrm>
            <a:off x="7086600" y="2651760"/>
            <a:ext cx="4617720" cy="667512"/>
          </a:xfrm>
          <a:prstGeom prst="rect"/>
          <a:solidFill>
            <a:srgbClr val="FFFFFF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Flag shortage and excess using agreed thresholds.</a:t>
            </a:r>
          </a:p>
        </p:txBody>
      </p:sp>
      <p:sp>
        <p:nvSpPr>
          <p:cNvPr id="1048665" name="Rectangle 12"/>
          <p:cNvSpPr/>
          <p:nvPr/>
        </p:nvSpPr>
        <p:spPr>
          <a:xfrm>
            <a:off x="457200" y="3474720"/>
            <a:ext cx="2560320" cy="667512"/>
          </a:xfrm>
          <a:prstGeom prst="rect"/>
          <a:solidFill>
            <a:srgbClr val="F2F6FA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50">
                <a:solidFill>
                  <a:srgbClr val="2D3741"/>
                </a:solidFill>
                <a:latin typeface="Aptos"/>
              </a:defRPr>
            </a:pPr>
            <a:r>
              <a:t>Freight / delivery</a:t>
            </a:r>
          </a:p>
        </p:txBody>
      </p:sp>
      <p:sp>
        <p:nvSpPr>
          <p:cNvPr id="1048666" name="Rectangle 13"/>
          <p:cNvSpPr/>
          <p:nvPr/>
        </p:nvSpPr>
        <p:spPr>
          <a:xfrm>
            <a:off x="3154680" y="3474720"/>
            <a:ext cx="3794760" cy="667512"/>
          </a:xfrm>
          <a:prstGeom prst="rect"/>
          <a:solidFill>
            <a:srgbClr val="F2F6FA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Cost and delivery reliability may be assessed separately.</a:t>
            </a:r>
          </a:p>
        </p:txBody>
      </p:sp>
      <p:sp>
        <p:nvSpPr>
          <p:cNvPr id="1048667" name="Rectangle 14"/>
          <p:cNvSpPr/>
          <p:nvPr/>
        </p:nvSpPr>
        <p:spPr>
          <a:xfrm>
            <a:off x="7086600" y="3474720"/>
            <a:ext cx="4617720" cy="667512"/>
          </a:xfrm>
          <a:prstGeom prst="rect"/>
          <a:solidFill>
            <a:srgbClr val="F2F6FA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Balance freight cost with on-time delivery.</a:t>
            </a:r>
          </a:p>
        </p:txBody>
      </p:sp>
      <p:sp>
        <p:nvSpPr>
          <p:cNvPr id="1048668" name="Rectangle 15"/>
          <p:cNvSpPr/>
          <p:nvPr/>
        </p:nvSpPr>
        <p:spPr>
          <a:xfrm>
            <a:off x="457200" y="4297680"/>
            <a:ext cx="2560320" cy="667512"/>
          </a:xfrm>
          <a:prstGeom prst="rect"/>
          <a:solidFill>
            <a:srgbClr val="FFFFFF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950">
                <a:solidFill>
                  <a:srgbClr val="2D3741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1048669" name="Rectangle 16"/>
          <p:cNvSpPr/>
          <p:nvPr/>
        </p:nvSpPr>
        <p:spPr>
          <a:xfrm>
            <a:off x="3154680" y="4297680"/>
            <a:ext cx="3794760" cy="667512"/>
          </a:xfrm>
          <a:prstGeom prst="rect"/>
          <a:solidFill>
            <a:srgbClr val="FFFFFF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Metrics may need manual consolidation.</a:t>
            </a:r>
          </a:p>
        </p:txBody>
      </p:sp>
      <p:sp>
        <p:nvSpPr>
          <p:cNvPr id="1048670" name="Rectangle 17"/>
          <p:cNvSpPr/>
          <p:nvPr/>
        </p:nvSpPr>
        <p:spPr>
          <a:xfrm>
            <a:off x="7086600" y="4297680"/>
            <a:ext cx="4617720" cy="667512"/>
          </a:xfrm>
          <a:prstGeom prst="rect"/>
          <a:solidFill>
            <a:srgbClr val="FFFFFF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0" sz="950">
                <a:solidFill>
                  <a:srgbClr val="2D3741"/>
                </a:solidFill>
                <a:latin typeface="Aptos"/>
              </a:defRPr>
            </a:pPr>
            <a:r>
              <a:t>Use validated KPI definitions and a common dashboard.</a:t>
            </a:r>
          </a:p>
        </p:txBody>
      </p:sp>
      <p:sp>
        <p:nvSpPr>
          <p:cNvPr id="1048671" name="TextBox 18"/>
          <p:cNvSpPr txBox="1"/>
          <p:nvPr/>
        </p:nvSpPr>
        <p:spPr>
          <a:xfrm>
            <a:off x="365760" y="6565392"/>
            <a:ext cx="2912884" cy="218440"/>
          </a:xfrm>
          <a:prstGeom prst="rect"/>
          <a:noFill/>
        </p:spPr>
        <p:txBody>
          <a:bodyPr wrap="none">
            <a:spAutoFit/>
          </a:bodyPr>
          <a:p>
            <a:pPr algn="ctr">
              <a:defRPr sz="800">
                <a:solidFill>
                  <a:srgbClr val="646E78"/>
                </a:solidFill>
                <a:latin typeface="Aptos"/>
              </a:defRPr>
            </a:pPr>
            <a:r>
              <a:t>Supply Chain Cost Optimization &amp; Performance Analytics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672" name="TextBox 1"/>
          <p:cNvSpPr txBox="1"/>
          <p:nvPr/>
        </p:nvSpPr>
        <p:spPr>
          <a:xfrm>
            <a:off x="411480" y="228600"/>
            <a:ext cx="6745606" cy="472440"/>
          </a:xfrm>
          <a:prstGeom prst="rect"/>
          <a:noFill/>
        </p:spPr>
        <p:txBody>
          <a:bodyPr wrap="none">
            <a:spAutoFit/>
          </a:bodyPr>
          <a:p>
            <a:pPr>
              <a:defRPr b="1" sz="2500">
                <a:solidFill>
                  <a:srgbClr val="1F4E79"/>
                </a:solidFill>
                <a:latin typeface="Aptos Display"/>
              </a:defRPr>
            </a:pPr>
            <a:r>
              <a:t>5. POTENTIAL IMPROVEMENTS &amp; VALIDATION</a:t>
            </a:r>
          </a:p>
        </p:txBody>
      </p:sp>
      <p:sp>
        <p:nvSpPr>
          <p:cNvPr id="1048673" name="TextBox 2"/>
          <p:cNvSpPr txBox="1"/>
          <p:nvPr/>
        </p:nvSpPr>
        <p:spPr>
          <a:xfrm>
            <a:off x="438912" y="777240"/>
            <a:ext cx="5138807" cy="256541"/>
          </a:xfrm>
          <a:prstGeom prst="rect"/>
          <a:noFill/>
        </p:spPr>
        <p:txBody>
          <a:bodyPr wrap="none">
            <a:spAutoFit/>
          </a:bodyPr>
          <a:p>
            <a:pPr>
              <a:defRPr sz="1000">
                <a:solidFill>
                  <a:srgbClr val="646E78"/>
                </a:solidFill>
                <a:latin typeface="Aptos"/>
              </a:defRPr>
            </a:pPr>
            <a:r>
              <a:t>Treat these as hypotheses until supported by source data or stakeholder evidence.</a:t>
            </a:r>
          </a:p>
        </p:txBody>
      </p:sp>
      <p:sp>
        <p:nvSpPr>
          <p:cNvPr id="1048674" name="Rounded Rectangle 3"/>
          <p:cNvSpPr/>
          <p:nvPr/>
        </p:nvSpPr>
        <p:spPr>
          <a:xfrm>
            <a:off x="640080" y="1325880"/>
            <a:ext cx="5212080" cy="868680"/>
          </a:xfrm>
          <a:prstGeom prst="round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050">
                <a:solidFill>
                  <a:srgbClr val="2D3741"/>
                </a:solidFill>
                <a:latin typeface="Aptos"/>
              </a:defRPr>
            </a:pPr>
            <a:r>
              <a:t>PM-01 Supplier scorecard</a:t>
            </a:r>
            <a:br/>
            <a:r>
              <a:t>Validate supplier cost, lead time, and service fields.</a:t>
            </a:r>
          </a:p>
        </p:txBody>
      </p:sp>
      <p:sp>
        <p:nvSpPr>
          <p:cNvPr id="1048675" name="Rounded Rectangle 4"/>
          <p:cNvSpPr/>
          <p:nvPr/>
        </p:nvSpPr>
        <p:spPr>
          <a:xfrm>
            <a:off x="6309360" y="1325880"/>
            <a:ext cx="5212080" cy="868680"/>
          </a:xfrm>
          <a:prstGeom prst="roundRect"/>
          <a:solidFill>
            <a:srgbClr val="F2F6FA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050">
                <a:solidFill>
                  <a:srgbClr val="2D3741"/>
                </a:solidFill>
                <a:latin typeface="Aptos"/>
              </a:defRPr>
            </a:pPr>
            <a:r>
              <a:t>PM-02 Inventory alerts</a:t>
            </a:r>
            <a:br/>
            <a:r>
              <a:t>Confirm stock, reorder point, and target-stock fields.</a:t>
            </a:r>
          </a:p>
        </p:txBody>
      </p:sp>
      <p:sp>
        <p:nvSpPr>
          <p:cNvPr id="1048676" name="Rounded Rectangle 5"/>
          <p:cNvSpPr/>
          <p:nvPr/>
        </p:nvSpPr>
        <p:spPr>
          <a:xfrm>
            <a:off x="640080" y="2532888"/>
            <a:ext cx="5212080" cy="868680"/>
          </a:xfrm>
          <a:prstGeom prst="round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050">
                <a:solidFill>
                  <a:srgbClr val="2D3741"/>
                </a:solidFill>
                <a:latin typeface="Aptos"/>
              </a:defRPr>
            </a:pPr>
            <a:r>
              <a:t>PM-03 Freight + service view</a:t>
            </a:r>
            <a:br/>
            <a:r>
              <a:t>Confirm freight, shipment ID, promised and actual dates.</a:t>
            </a:r>
          </a:p>
        </p:txBody>
      </p:sp>
      <p:sp>
        <p:nvSpPr>
          <p:cNvPr id="1048677" name="Rounded Rectangle 6"/>
          <p:cNvSpPr/>
          <p:nvPr/>
        </p:nvSpPr>
        <p:spPr>
          <a:xfrm>
            <a:off x="6309360" y="2532888"/>
            <a:ext cx="5212080" cy="868680"/>
          </a:xfrm>
          <a:prstGeom prst="roundRect"/>
          <a:solidFill>
            <a:srgbClr val="F2F6FA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050">
                <a:solidFill>
                  <a:srgbClr val="2D3741"/>
                </a:solidFill>
                <a:latin typeface="Aptos"/>
              </a:defRPr>
            </a:pPr>
            <a:r>
              <a:t>PM-04 Quality exceptions</a:t>
            </a:r>
            <a:br/>
            <a:r>
              <a:t>Confirm defect / inspection fields and definitions.</a:t>
            </a:r>
          </a:p>
        </p:txBody>
      </p:sp>
      <p:sp>
        <p:nvSpPr>
          <p:cNvPr id="1048678" name="Rounded Rectangle 7"/>
          <p:cNvSpPr/>
          <p:nvPr/>
        </p:nvSpPr>
        <p:spPr>
          <a:xfrm>
            <a:off x="640080" y="3739896"/>
            <a:ext cx="5212080" cy="868680"/>
          </a:xfrm>
          <a:prstGeom prst="roundRect"/>
          <a:solidFill>
            <a:srgbClr val="EAF1F8"/>
          </a:solidFill>
          <a:ln w="1397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050">
                <a:solidFill>
                  <a:srgbClr val="2D3741"/>
                </a:solidFill>
                <a:latin typeface="Aptos"/>
              </a:defRPr>
            </a:pPr>
            <a:r>
              <a:t>PM-05 KPI consistency</a:t>
            </a:r>
            <a:br/>
            <a:r>
              <a:t>Reconcile KPI formulas to BRD and source data.</a:t>
            </a:r>
          </a:p>
        </p:txBody>
      </p:sp>
      <p:sp>
        <p:nvSpPr>
          <p:cNvPr id="1048679" name="Rounded Rectangle 8"/>
          <p:cNvSpPr/>
          <p:nvPr/>
        </p:nvSpPr>
        <p:spPr>
          <a:xfrm>
            <a:off x="2286000" y="5349240"/>
            <a:ext cx="7589520" cy="640080"/>
          </a:xfrm>
          <a:prstGeom prst="roundRect"/>
          <a:solidFill>
            <a:srgbClr val="E2EFDA"/>
          </a:solidFill>
          <a:ln w="1397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8288" lIns="54864" rIns="54864" rtlCol="0" tIns="18288" wrap="square"/>
          <a:p>
            <a:pPr algn="ctr">
              <a:defRPr b="1" sz="1200">
                <a:solidFill>
                  <a:srgbClr val="2D3741"/>
                </a:solidFill>
                <a:latin typeface="Aptos"/>
              </a:defRPr>
            </a:pPr>
            <a:r>
              <a:t>Next: validate process assumptions and map actual dataset fields to stages / KPIs.</a:t>
            </a:r>
          </a:p>
        </p:txBody>
      </p:sp>
      <p:sp>
        <p:nvSpPr>
          <p:cNvPr id="1048680" name="TextBox 9"/>
          <p:cNvSpPr txBox="1"/>
          <p:nvPr/>
        </p:nvSpPr>
        <p:spPr>
          <a:xfrm>
            <a:off x="365760" y="6565392"/>
            <a:ext cx="2912884" cy="218440"/>
          </a:xfrm>
          <a:prstGeom prst="rect"/>
          <a:noFill/>
        </p:spPr>
        <p:txBody>
          <a:bodyPr wrap="none">
            <a:spAutoFit/>
          </a:bodyPr>
          <a:p>
            <a:pPr algn="ctr">
              <a:defRPr sz="800">
                <a:solidFill>
                  <a:srgbClr val="646E78"/>
                </a:solidFill>
                <a:latin typeface="Aptos"/>
              </a:defRPr>
            </a:pPr>
            <a:r>
              <a:t>Supply Chain Cost Optimization &amp; Performance Analytics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TB373FU</dc:creator>
  <cp:lastModifiedBy>Steve Canny</cp:lastModifiedBy>
  <dcterms:created xsi:type="dcterms:W3CDTF">2013-01-26T22:14:16Z</dcterms:created>
  <dcterms:modified xsi:type="dcterms:W3CDTF">2026-10-26T06:54:12Z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1281535733d64e2ca516dc4bb18f36b2_23</vt:lpwstr>
  </property>
</Properties>
</file>